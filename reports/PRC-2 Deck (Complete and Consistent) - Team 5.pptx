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60" r:id="rId2"/>
  </p:sldMasterIdLst>
  <p:notesMasterIdLst>
    <p:notesMasterId r:id="rId19"/>
  </p:notesMasterIdLst>
  <p:handoutMasterIdLst>
    <p:handoutMasterId r:id="rId20"/>
  </p:handoutMasterIdLst>
  <p:sldIdLst>
    <p:sldId id="338" r:id="rId3"/>
    <p:sldId id="322" r:id="rId4"/>
    <p:sldId id="351" r:id="rId5"/>
    <p:sldId id="357" r:id="rId6"/>
    <p:sldId id="350" r:id="rId7"/>
    <p:sldId id="352" r:id="rId8"/>
    <p:sldId id="359" r:id="rId9"/>
    <p:sldId id="353" r:id="rId10"/>
    <p:sldId id="354" r:id="rId11"/>
    <p:sldId id="358" r:id="rId12"/>
    <p:sldId id="360" r:id="rId13"/>
    <p:sldId id="361" r:id="rId14"/>
    <p:sldId id="362" r:id="rId15"/>
    <p:sldId id="355" r:id="rId16"/>
    <p:sldId id="356" r:id="rId17"/>
    <p:sldId id="332" r:id="rId18"/>
  </p:sldIdLst>
  <p:sldSz cx="12192000" cy="6858000"/>
  <p:notesSz cx="7102475" cy="9037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18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A111915-BE36-4E01-A7E5-04B1672EAD32}" styleName="浅色样式 2 - 强调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浅色样式 2 - 强调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258"/>
    <p:restoredTop sz="95833"/>
  </p:normalViewPr>
  <p:slideViewPr>
    <p:cSldViewPr snapToGrid="0" snapToObjects="1">
      <p:cViewPr varScale="1">
        <p:scale>
          <a:sx n="78" d="100"/>
          <a:sy n="78" d="100"/>
        </p:scale>
        <p:origin x="73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51" d="100"/>
          <a:sy n="51" d="100"/>
        </p:scale>
        <p:origin x="3208" y="2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hithi V" userId="64e6e7267afaf49f" providerId="LiveId" clId="{BE6A63EE-A706-4515-9F2B-C0932533D30C}"/>
    <pc:docChg chg="undo custSel modSld">
      <pc:chgData name="Sahithi V" userId="64e6e7267afaf49f" providerId="LiveId" clId="{BE6A63EE-A706-4515-9F2B-C0932533D30C}" dt="2026-09-18T12:40:11.472" v="19" actId="255"/>
      <pc:docMkLst>
        <pc:docMk/>
      </pc:docMkLst>
      <pc:sldChg chg="modSp mod">
        <pc:chgData name="Sahithi V" userId="64e6e7267afaf49f" providerId="LiveId" clId="{BE6A63EE-A706-4515-9F2B-C0932533D30C}" dt="2026-09-18T12:37:51.618" v="4" actId="20577"/>
        <pc:sldMkLst>
          <pc:docMk/>
          <pc:sldMk cId="0" sldId="338"/>
        </pc:sldMkLst>
        <pc:spChg chg="mod">
          <ac:chgData name="Sahithi V" userId="64e6e7267afaf49f" providerId="LiveId" clId="{BE6A63EE-A706-4515-9F2B-C0932533D30C}" dt="2026-09-18T12:37:51.618" v="4" actId="20577"/>
          <ac:spMkLst>
            <pc:docMk/>
            <pc:sldMk cId="0" sldId="338"/>
            <ac:spMk id="3" creationId="{00000000-0000-0000-0000-000000000000}"/>
          </ac:spMkLst>
        </pc:spChg>
        <pc:spChg chg="mod">
          <ac:chgData name="Sahithi V" userId="64e6e7267afaf49f" providerId="LiveId" clId="{BE6A63EE-A706-4515-9F2B-C0932533D30C}" dt="2026-09-18T12:37:38.461" v="1" actId="1076"/>
          <ac:spMkLst>
            <pc:docMk/>
            <pc:sldMk cId="0" sldId="338"/>
            <ac:spMk id="9" creationId="{00000000-0000-0000-0000-000000000000}"/>
          </ac:spMkLst>
        </pc:spChg>
        <pc:spChg chg="mod">
          <ac:chgData name="Sahithi V" userId="64e6e7267afaf49f" providerId="LiveId" clId="{BE6A63EE-A706-4515-9F2B-C0932533D30C}" dt="2026-09-18T12:37:32.183" v="0" actId="1076"/>
          <ac:spMkLst>
            <pc:docMk/>
            <pc:sldMk cId="0" sldId="338"/>
            <ac:spMk id="10" creationId="{00000000-0000-0000-0000-000000000000}"/>
          </ac:spMkLst>
        </pc:spChg>
        <pc:picChg chg="mod">
          <ac:chgData name="Sahithi V" userId="64e6e7267afaf49f" providerId="LiveId" clId="{BE6A63EE-A706-4515-9F2B-C0932533D30C}" dt="2026-09-18T12:37:42.846" v="2" actId="1076"/>
          <ac:picMkLst>
            <pc:docMk/>
            <pc:sldMk cId="0" sldId="338"/>
            <ac:picMk id="7" creationId="{00000000-0000-0000-0000-000000000000}"/>
          </ac:picMkLst>
        </pc:picChg>
      </pc:sldChg>
      <pc:sldChg chg="modSp mod">
        <pc:chgData name="Sahithi V" userId="64e6e7267afaf49f" providerId="LiveId" clId="{BE6A63EE-A706-4515-9F2B-C0932533D30C}" dt="2026-09-18T12:40:11.472" v="19" actId="255"/>
        <pc:sldMkLst>
          <pc:docMk/>
          <pc:sldMk cId="2116982541" sldId="356"/>
        </pc:sldMkLst>
        <pc:spChg chg="mod">
          <ac:chgData name="Sahithi V" userId="64e6e7267afaf49f" providerId="LiveId" clId="{BE6A63EE-A706-4515-9F2B-C0932533D30C}" dt="2026-09-18T12:40:11.472" v="19" actId="255"/>
          <ac:spMkLst>
            <pc:docMk/>
            <pc:sldMk cId="2116982541" sldId="356"/>
            <ac:spMk id="9" creationId="{820347CC-6603-A42B-AFAE-07AE7DD492A9}"/>
          </ac:spMkLst>
        </pc:spChg>
      </pc:sldChg>
      <pc:sldChg chg="modSp mod">
        <pc:chgData name="Sahithi V" userId="64e6e7267afaf49f" providerId="LiveId" clId="{BE6A63EE-A706-4515-9F2B-C0932533D30C}" dt="2026-09-18T12:39:25.665" v="14" actId="255"/>
        <pc:sldMkLst>
          <pc:docMk/>
          <pc:sldMk cId="0" sldId="360"/>
        </pc:sldMkLst>
        <pc:spChg chg="mod">
          <ac:chgData name="Sahithi V" userId="64e6e7267afaf49f" providerId="LiveId" clId="{BE6A63EE-A706-4515-9F2B-C0932533D30C}" dt="2026-09-18T12:39:25.665" v="14" actId="255"/>
          <ac:spMkLst>
            <pc:docMk/>
            <pc:sldMk cId="0" sldId="360"/>
            <ac:spMk id="3" creationId="{00000000-0000-0000-0000-000000000000}"/>
          </ac:spMkLst>
        </pc:spChg>
        <pc:picChg chg="mod">
          <ac:chgData name="Sahithi V" userId="64e6e7267afaf49f" providerId="LiveId" clId="{BE6A63EE-A706-4515-9F2B-C0932533D30C}" dt="2026-09-18T12:39:04.783" v="12" actId="1076"/>
          <ac:picMkLst>
            <pc:docMk/>
            <pc:sldMk cId="0" sldId="360"/>
            <ac:picMk id="4" creationId="{00000000-0000-0000-0000-000000000000}"/>
          </ac:picMkLst>
        </pc:picChg>
      </pc:sldChg>
      <pc:sldChg chg="modSp mod">
        <pc:chgData name="Sahithi V" userId="64e6e7267afaf49f" providerId="LiveId" clId="{BE6A63EE-A706-4515-9F2B-C0932533D30C}" dt="2026-09-18T12:39:18.477" v="13" actId="255"/>
        <pc:sldMkLst>
          <pc:docMk/>
          <pc:sldMk cId="0" sldId="361"/>
        </pc:sldMkLst>
        <pc:spChg chg="mod">
          <ac:chgData name="Sahithi V" userId="64e6e7267afaf49f" providerId="LiveId" clId="{BE6A63EE-A706-4515-9F2B-C0932533D30C}" dt="2026-09-18T12:39:18.477" v="13" actId="255"/>
          <ac:spMkLst>
            <pc:docMk/>
            <pc:sldMk cId="0" sldId="361"/>
            <ac:spMk id="3" creationId="{00000000-0000-0000-0000-000000000000}"/>
          </ac:spMkLst>
        </pc:spChg>
        <pc:picChg chg="mod">
          <ac:chgData name="Sahithi V" userId="64e6e7267afaf49f" providerId="LiveId" clId="{BE6A63EE-A706-4515-9F2B-C0932533D30C}" dt="2026-09-18T12:38:35.727" v="8" actId="1076"/>
          <ac:picMkLst>
            <pc:docMk/>
            <pc:sldMk cId="0" sldId="361"/>
            <ac:picMk id="4" creationId="{00000000-0000-0000-0000-000000000000}"/>
          </ac:picMkLst>
        </pc:picChg>
      </pc:sldChg>
      <pc:sldChg chg="modSp mod">
        <pc:chgData name="Sahithi V" userId="64e6e7267afaf49f" providerId="LiveId" clId="{BE6A63EE-A706-4515-9F2B-C0932533D30C}" dt="2026-09-18T12:39:54.703" v="18" actId="1076"/>
        <pc:sldMkLst>
          <pc:docMk/>
          <pc:sldMk cId="0" sldId="362"/>
        </pc:sldMkLst>
        <pc:spChg chg="mod">
          <ac:chgData name="Sahithi V" userId="64e6e7267afaf49f" providerId="LiveId" clId="{BE6A63EE-A706-4515-9F2B-C0932533D30C}" dt="2026-09-18T12:39:45.453" v="16" actId="1076"/>
          <ac:spMkLst>
            <pc:docMk/>
            <pc:sldMk cId="0" sldId="362"/>
            <ac:spMk id="2" creationId="{00000000-0000-0000-0000-000000000000}"/>
          </ac:spMkLst>
        </pc:spChg>
        <pc:spChg chg="mod">
          <ac:chgData name="Sahithi V" userId="64e6e7267afaf49f" providerId="LiveId" clId="{BE6A63EE-A706-4515-9F2B-C0932533D30C}" dt="2026-09-18T12:39:37.817" v="15" actId="255"/>
          <ac:spMkLst>
            <pc:docMk/>
            <pc:sldMk cId="0" sldId="362"/>
            <ac:spMk id="3" creationId="{00000000-0000-0000-0000-000000000000}"/>
          </ac:spMkLst>
        </pc:spChg>
        <pc:spChg chg="mod">
          <ac:chgData name="Sahithi V" userId="64e6e7267afaf49f" providerId="LiveId" clId="{BE6A63EE-A706-4515-9F2B-C0932533D30C}" dt="2026-09-18T12:39:54.703" v="18" actId="1076"/>
          <ac:spMkLst>
            <pc:docMk/>
            <pc:sldMk cId="0" sldId="362"/>
            <ac:spMk id="7" creationId="{00000000-0000-0000-0000-000000000000}"/>
          </ac:spMkLst>
        </pc:spChg>
        <pc:graphicFrameChg chg="mod">
          <ac:chgData name="Sahithi V" userId="64e6e7267afaf49f" providerId="LiveId" clId="{BE6A63EE-A706-4515-9F2B-C0932533D30C}" dt="2026-09-18T12:39:49.016" v="17" actId="1076"/>
          <ac:graphicFrameMkLst>
            <pc:docMk/>
            <pc:sldMk cId="0" sldId="362"/>
            <ac:graphicFrameMk id="6" creationId="{00000000-0000-0000-0000-000000000000}"/>
          </ac:graphicFrameMkLst>
        </pc:graphicFrame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45345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092" y="0"/>
            <a:ext cx="3077739" cy="45345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9F6064-4237-BA4C-A655-B64A9E0DF723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584188"/>
            <a:ext cx="3077739" cy="4534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092" y="8584188"/>
            <a:ext cx="3077739" cy="4534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FBAABA-A336-9B4F-BB34-8D7F4005576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56171" cy="453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45345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092" y="0"/>
            <a:ext cx="3077739" cy="45345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A854B6-73EE-3647-B9F0-9FDDAF047BDA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839788" y="1130300"/>
            <a:ext cx="5422900" cy="30495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248" y="4349363"/>
            <a:ext cx="5681980" cy="355857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584188"/>
            <a:ext cx="3077739" cy="4534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092" y="8584188"/>
            <a:ext cx="3077739" cy="4534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329816-4D5E-3B44-810B-F5C416F14AE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8D4DF-21A2-8343-9008-710997EFE372}" type="datetime1">
              <a:rPr lang="en-IN" smtClean="0"/>
              <a:t>18-09-2026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4DE8B-8D6B-8C46-B882-6A2CD2BC96F0}" type="datetime1">
              <a:rPr lang="en-IN" smtClean="0"/>
              <a:t>18-09-2026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REVIEW – 1    Department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87228" y="60325"/>
            <a:ext cx="1532022" cy="620712"/>
          </a:xfrm>
          <a:prstGeom prst="rect">
            <a:avLst/>
          </a:prstGeom>
          <a:blipFill dpi="0" rotWithShape="1">
            <a:blip r:embed="rId2">
              <a:alphaModFix amt="78101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173D6-3CEE-8F48-B559-8A1AAA479881}" type="datetime1">
              <a:rPr lang="en-IN" smtClean="0"/>
              <a:t>18-09-2026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238AD-5BCA-FB4D-BB92-A9506EB125DE}" type="datetime1">
              <a:rPr lang="en-IN" smtClean="0"/>
              <a:t>18-09-2026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E14E3-1A4B-E147-9C43-AF22F573C146}" type="datetime1">
              <a:rPr lang="en-IN" smtClean="0"/>
              <a:t>18-09-2026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5FDD8-A8EC-434C-9DC5-9C830FFCBBBE}" type="datetime1">
              <a:rPr lang="en-IN" smtClean="0"/>
              <a:t>18-09-2026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649A9-55B9-CC4B-9F14-A826BCB3F81D}" type="datetime1">
              <a:rPr lang="en-IN" smtClean="0"/>
              <a:t>18-09-2026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DB05C-DA09-D54E-BE90-A914E23C1D37}" type="datetime1">
              <a:rPr lang="en-IN" smtClean="0"/>
              <a:t>18-09-2026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2264A-0DD4-554E-9BAF-72F2B974B4C3}" type="datetime1">
              <a:rPr lang="en-IN" smtClean="0"/>
              <a:t>18-09-2026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EFDC3-8E95-594C-90F9-D4BFD51367E6}" type="datetime1">
              <a:rPr lang="en-IN" smtClean="0"/>
              <a:t>18-09-2026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2C79A-A4F9-4646-8C8F-7091881D2F89}" type="datetime1">
              <a:rPr lang="en-IN" smtClean="0"/>
              <a:t>18-09-2026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F1655-6176-8843-98F6-F743980649D1}" type="datetime1">
              <a:rPr lang="en-IN" smtClean="0"/>
              <a:t>18-09-2026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23D11-2585-D24D-93CA-1B3685649544}" type="datetime1">
              <a:rPr lang="en-IN" smtClean="0"/>
              <a:t>18-09-2026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EACA4-A1C6-9F4F-978A-D3AE7141A61E}" type="datetime1">
              <a:rPr lang="en-IN" smtClean="0"/>
              <a:t>18-09-2026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F10E6-0672-C24B-8BA7-69AD3847874C}" type="datetime1">
              <a:rPr lang="en-IN" smtClean="0"/>
              <a:t>18-09-2026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70737-B6DD-A042-B94C-464B3C8698F2}" type="datetime1">
              <a:rPr lang="en-IN" smtClean="0"/>
              <a:t>18-09-2026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B1E405-5A0A-8F4C-9EC6-8C8112FD4D9F}" type="datetime1">
              <a:rPr lang="en-IN" smtClean="0"/>
              <a:t>18-09-2026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REVIEW – 1  Department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7A86FA-D70B-B047-9EE8-E3556A998703}" type="datetime1">
              <a:rPr lang="en-IN" smtClean="0"/>
              <a:t>18-09-2026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REVIEW – 1 / 2 / 3    173030211    Department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19609" y="595713"/>
            <a:ext cx="10515600" cy="1100826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da-DK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ENGINEERING CAPSTONE PROJECT – 1/INDUSTRIAL INTERNSHIP/ INDUSTRIAL INTERNSHIP PHASE-I</a:t>
            </a:r>
            <a:br>
              <a:rPr lang="da-DK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da-DK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Review-1</a:t>
            </a:r>
            <a:b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AI-Based Fake News Detection and Credibility Analysis System</a:t>
            </a:r>
            <a:endParaRPr lang="en-US" altLang="en-US" sz="2400" b="1" dirty="0">
              <a:solidFill>
                <a:schemeClr val="accent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12247" y="2265079"/>
            <a:ext cx="10515600" cy="1097555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IN" sz="2000" b="1" dirty="0"/>
              <a:t>Team No- 5</a:t>
            </a:r>
          </a:p>
          <a:p>
            <a:pPr marL="0" indent="0" algn="ctr">
              <a:buNone/>
            </a:pPr>
            <a:r>
              <a:rPr lang="en-IN" sz="2000" b="1" dirty="0"/>
              <a:t>Roll No		Name</a:t>
            </a:r>
            <a:endParaRPr lang="en-US" sz="2000" b="1" dirty="0"/>
          </a:p>
          <a:p>
            <a:pPr marL="0" indent="0" algn="ctr">
              <a:buNone/>
            </a:pPr>
            <a:r>
              <a:rPr lang="en-IN" sz="1600" dirty="0"/>
              <a:t>2320030101		V. Sahithi</a:t>
            </a:r>
          </a:p>
          <a:p>
            <a:pPr marL="0" indent="0" algn="ctr">
              <a:buNone/>
            </a:pPr>
            <a:r>
              <a:rPr lang="en-IN" sz="1600" dirty="0"/>
              <a:t>2320030133		M. Alekhya</a:t>
            </a:r>
          </a:p>
          <a:p>
            <a:pPr marL="0" indent="0" algn="ctr">
              <a:buNone/>
            </a:pPr>
            <a:r>
              <a:rPr lang="en-IN" sz="1600" dirty="0"/>
              <a:t>2320030327		A. Alekhya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923A7-D8E7-1742-AE5C-E3C19725FB52}" type="datetime1">
              <a:rPr lang="en-IN" smtClean="0"/>
              <a:t>18-09-2026</a:t>
            </a:fld>
            <a:endParaRPr lang="en-US"/>
          </a:p>
        </p:txBody>
      </p:sp>
      <p:sp>
        <p:nvSpPr>
          <p:cNvPr id="9" name="Content Placeholder 3"/>
          <p:cNvSpPr txBox="1"/>
          <p:nvPr/>
        </p:nvSpPr>
        <p:spPr>
          <a:xfrm>
            <a:off x="847117" y="5318828"/>
            <a:ext cx="10506683" cy="138075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endParaRPr lang="en-US" sz="1800" b="1" dirty="0">
              <a:solidFill>
                <a:srgbClr val="C0000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US" sz="1800" b="1" dirty="0">
              <a:solidFill>
                <a:srgbClr val="C0000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US" sz="1800" b="1" dirty="0">
              <a:solidFill>
                <a:srgbClr val="C0000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dirty="0">
                <a:solidFill>
                  <a:srgbClr val="C00000"/>
                </a:solidFill>
              </a:rPr>
              <a:t>KONERU LAKSHMAIAH EDUCATION FOUNDATION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800" b="1" dirty="0">
              <a:solidFill>
                <a:srgbClr val="0070C0"/>
              </a:solidFill>
            </a:endParaRPr>
          </a:p>
        </p:txBody>
      </p:sp>
      <p:sp>
        <p:nvSpPr>
          <p:cNvPr id="10" name="Content Placeholder 3"/>
          <p:cNvSpPr txBox="1"/>
          <p:nvPr/>
        </p:nvSpPr>
        <p:spPr>
          <a:xfrm>
            <a:off x="952499" y="3855766"/>
            <a:ext cx="10515600" cy="1806292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en-US" sz="2400" dirty="0">
              <a:solidFill>
                <a:srgbClr val="00B050"/>
              </a:solidFill>
            </a:endParaRPr>
          </a:p>
          <a:p>
            <a:pPr marL="0" indent="0" algn="ctr">
              <a:buNone/>
            </a:pPr>
            <a:r>
              <a:rPr lang="en-US" sz="2400" dirty="0">
                <a:solidFill>
                  <a:srgbClr val="00B050"/>
                </a:solidFill>
              </a:rPr>
              <a:t>Under the Guidance of</a:t>
            </a:r>
          </a:p>
          <a:p>
            <a:pPr marL="0" indent="0" algn="ctr">
              <a:buNone/>
            </a:pPr>
            <a:r>
              <a:rPr lang="en-US" sz="2400" dirty="0">
                <a:solidFill>
                  <a:srgbClr val="00B050"/>
                </a:solidFill>
              </a:rPr>
              <a:t>Dr. Archana Kalidindi</a:t>
            </a:r>
          </a:p>
          <a:p>
            <a:pPr marL="0" indent="0" algn="ctr">
              <a:buNone/>
            </a:pPr>
            <a:r>
              <a:rPr lang="en-US" sz="2400" dirty="0">
                <a:solidFill>
                  <a:srgbClr val="00B050"/>
                </a:solidFill>
              </a:rPr>
              <a:t>Associate Professor, Dept. of CSE</a:t>
            </a:r>
          </a:p>
          <a:p>
            <a:pPr marL="0" indent="0" algn="ctr">
              <a:buNone/>
            </a:pPr>
            <a:r>
              <a:rPr lang="en-US" sz="2400" dirty="0">
                <a:solidFill>
                  <a:srgbClr val="00B050"/>
                </a:solidFill>
              </a:rPr>
              <a:t>Department of Computer Science and Engineering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400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2394" y="5458409"/>
            <a:ext cx="2175809" cy="89794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-396"/>
            <a:ext cx="1458484" cy="69086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838200" y="1250731"/>
            <a:ext cx="10515600" cy="5002923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Gap Identification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Innovation, Creativity, and Novelty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Feasibility and Project Plan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CB346-A29B-614A-90B7-3F58220E4132}" type="datetime1">
              <a:rPr lang="en-IN" smtClean="0"/>
              <a:t>18-09-2026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2</a:t>
            </a:fld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396"/>
            <a:ext cx="1458484" cy="690861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PRC-I   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4522124-E786-BCBD-47AD-A1A7AA1DA5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F12C2661-5AB9-3306-326F-7FD2F83DB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>
            <a:norm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7B926EC-3DBE-8D00-A4DE-40000C0B97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60158"/>
            <a:ext cx="10515600" cy="5002923"/>
          </a:xfrm>
        </p:spPr>
        <p:txBody>
          <a:bodyPr>
            <a:norm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Fake news spreads rapidly across social media and online platforms, making it hard for users to tell authentic information from misleading or fabricated content.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fact-checking cannot scale to the volume of news and posts shared online every day.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applies Natural Language Processing (NLP) and Machine Learning to automatically classify news articles as Real or Fake.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aims to move beyond simple binary classification toward a more informative, evidence-aware credibility assessment.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Applications: social media platforms, browser extensions, WhatsApp/forwarded-message verification, and journalism fact-checking tools.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8C7DBE-8B58-804A-6C39-91193A7ECF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CB346-A29B-614A-90B7-3F58220E4132}" type="datetime1">
              <a:rPr lang="en-IN" smtClean="0"/>
              <a:t>18-09-2026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53D3A6-F1ED-0DAD-DE43-F3A755A78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3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BEFA699-0799-F3B0-1E5B-DEAFB30C59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396"/>
            <a:ext cx="1458484" cy="690861"/>
          </a:xfrm>
          <a:prstGeom prst="rect">
            <a:avLst/>
          </a:prstGeom>
        </p:spPr>
      </p:pic>
      <p:sp>
        <p:nvSpPr>
          <p:cNvPr id="11" name="Footer Placeholder 2">
            <a:extLst>
              <a:ext uri="{FF2B5EF4-FFF2-40B4-BE49-F238E27FC236}">
                <a16:creationId xmlns:a16="http://schemas.microsoft.com/office/drawing/2014/main" id="{3C34A4E9-B1D7-4F59-982A-7518E0054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PRC-I    </a:t>
            </a:r>
          </a:p>
        </p:txBody>
      </p:sp>
    </p:spTree>
    <p:extLst>
      <p:ext uri="{BB962C8B-B14F-4D97-AF65-F5344CB8AC3E}">
        <p14:creationId xmlns:p14="http://schemas.microsoft.com/office/powerpoint/2010/main" val="20115990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24174-E81B-4768-8B99-C41881EF5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E84203-8F93-4071-A37C-6A9C3BB16C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existing fake news detection systems rely on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binary classification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(Real/Fake) using text-based features and classical Machine Learning models. While effective as a baseline, these systems do not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verify claims against external evidence or explain their predictions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the user, and their performance often does not generalize well across different time periods or news sources.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addresses this gap by building a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generalizability-aware, evidence-grounded fake news detection system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starting with a robust TF-IDF + Logistic Regression baseline and extending toward transformer-based and evidence-retrieval methods.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185FB1-B28D-4C1B-A7FA-1B6AE4E26B0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65777"/>
            <a:ext cx="2743200" cy="365125"/>
          </a:xfrm>
        </p:spPr>
        <p:txBody>
          <a:bodyPr/>
          <a:lstStyle/>
          <a:p>
            <a:fld id="{C7A4DE8B-8D6B-8C46-B882-6A2CD2BC96F0}" type="datetime1">
              <a:rPr lang="en-IN" smtClean="0"/>
              <a:t>18-09-2026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C09634-64A3-451F-B3E1-F9F54FC12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4</a:t>
            </a:fld>
            <a:endParaRPr lang="en-US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D9CC9555-106F-46B4-BA3D-25EA6B8772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PRC-I    </a:t>
            </a:r>
          </a:p>
        </p:txBody>
      </p:sp>
    </p:spTree>
    <p:extLst>
      <p:ext uri="{BB962C8B-B14F-4D97-AF65-F5344CB8AC3E}">
        <p14:creationId xmlns:p14="http://schemas.microsoft.com/office/powerpoint/2010/main" val="11031988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DF4ED40-408F-6A27-E4F0-6FCB8E7B6B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0C946B85-3126-D2FB-6BBE-D431774EDF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r>
              <a:rPr lang="en-IN" dirty="0"/>
              <a:t> 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207DCC41-9625-D8BE-ED8E-A41DE68AA1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0731"/>
            <a:ext cx="10515600" cy="5002923"/>
          </a:xfrm>
        </p:spPr>
        <p:txBody>
          <a:bodyPr>
            <a:norm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machine learning model that classifies news articles as Real or Fake using NLP-based text features (TF-IDF).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the generalizability of the model across different time periods and news sources (e.g., older vs. recent, US vs. Indian news).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 system architecture that can be extended toward graded credibility scoring, claim extraction, and evidence retrieval.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a simple, usable interface that allows a user to input a news article and receive an instant prediction.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AB615F-134B-83C4-E306-B5062B74B4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CB346-A29B-614A-90B7-3F58220E4132}" type="datetime1">
              <a:rPr lang="en-IN" smtClean="0"/>
              <a:t>18-09-2026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B58078-A2DB-3337-E1DB-4073478F1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5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635B6A2-90DB-9DF8-4F42-DFC3BA3D4C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396"/>
            <a:ext cx="1458484" cy="690861"/>
          </a:xfrm>
          <a:prstGeom prst="rect">
            <a:avLst/>
          </a:prstGeom>
        </p:spPr>
      </p:pic>
      <p:sp>
        <p:nvSpPr>
          <p:cNvPr id="11" name="Footer Placeholder 2">
            <a:extLst>
              <a:ext uri="{FF2B5EF4-FFF2-40B4-BE49-F238E27FC236}">
                <a16:creationId xmlns:a16="http://schemas.microsoft.com/office/drawing/2014/main" id="{53D0FDF3-DB89-46A2-B389-76810F8CA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PRC-I    </a:t>
            </a:r>
          </a:p>
        </p:txBody>
      </p:sp>
    </p:spTree>
    <p:extLst>
      <p:ext uri="{BB962C8B-B14F-4D97-AF65-F5344CB8AC3E}">
        <p14:creationId xmlns:p14="http://schemas.microsoft.com/office/powerpoint/2010/main" val="40084045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2205BF8-E8B4-C589-5006-CAF232FB4E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15234DD-6ED1-D656-1294-FA28B66E45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5679BD2-A51A-9AA0-A461-44D352276E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0731"/>
            <a:ext cx="10515600" cy="350000"/>
          </a:xfrm>
        </p:spPr>
        <p:txBody>
          <a:bodyPr>
            <a:norm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approaches, research gaps, and why the proposed approach is needed -- based on 16 papers (2020 onwards).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0130AF-494E-777F-45AE-C50709DBF5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CB346-A29B-614A-90B7-3F58220E4132}" type="datetime1">
              <a:rPr lang="en-IN" smtClean="0"/>
              <a:t>18-09-2026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301E54-71CD-371A-5333-489712DC68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6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6E32AD9-12A7-7C40-05A0-8D056D1960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396"/>
            <a:ext cx="1458484" cy="690861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D07D7A9-8878-6941-85F0-B9C44D6483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0787444"/>
              </p:ext>
            </p:extLst>
          </p:nvPr>
        </p:nvGraphicFramePr>
        <p:xfrm>
          <a:off x="496000" y="1700000"/>
          <a:ext cx="11200000" cy="537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03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03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80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522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894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103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3711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1039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5802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25452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20917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299868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42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Sl No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Year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Authors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Title of the Paper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Source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Objective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Techniques Used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Dataset Used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Parameters Analysed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Research Inference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Research Gap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DOI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1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2021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Kaliyar, Goswami, Narang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FakeBERT: Fake news detection in social media with a BERT-based deep learning approach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Multimedia Tools and Applications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Improve fake news detection accuracy using BERT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BERT + parallel CNN blocks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Real-world fake news dataset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Accuracy, Precision, Recall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Achieved 98.90% accuracy, outperforming shallow ML models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Computationally heavy; limited to English text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10.1007/s11042-020-10183-2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2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2023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Park, Chai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Constructing a user-centered fake news detection model using ML classification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IEEE Access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Incorporate user/social features into detection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Classification algorithms + social capital features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User-content-network dataset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Accuracy, F1-score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User-centered features improve detection over content-only models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Most systems ignore user/social-network context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10.1109/ACCESS.2023.3294613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3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2021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Joseph, Sagil, Amina, Shahana, Saritha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Fake News Detection using Machine Learning Algorithm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Int. J. of Advanced Trends in CS and Engg.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Binary classification of online news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Decision Tree, Naive Bayes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Online news dataset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Accuracy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Decision Tree outperformed Naive Bayes on the tested set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Hand-crafted features insufficient for context-shifted fake news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10.30534/ijatcse/2021/101042021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4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2021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Abbad, Kumar, Samiullah, Suresh Kumar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A Predominant Advent to Fake News Detection using ML Algorithm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IEEE Conf. on Intelligent Technologies (CONIT)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Binary classification via neural networks + linguistic features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Neural networks, NLP feature extraction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Social media news dataset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Accuracy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Enabled user-flagging alongside automated classification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Lacks real-time detection efficiency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10.1109/CONIT51480.2021.9498436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5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2023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Bhuvaneshwari, Monika, Monisha, Jyoti, Girish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Fake News Detection using Machine Learning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Int. J. of Advanced Scientific Innovation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Compare ML models for fake news detection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PAC, SVM, Logistic Regression, N-gram + Count Vectorizer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CSV news dataset (title/text)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Accuracy, Precision, Recall, F1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PAC: 92% accuracy; N-gram w/ Random Search CV: 94.2%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Doesn't address multilingual or regional news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10.5281/zenodo.10509258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6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2020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Li, Wang, Li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Real-time fake news detection on social media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IEEE Int. Conf. on Big Data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Enable real-time detection at scale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Real-time classification pipeline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Social media stream data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Latency, Accuracy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Demonstrated feasibility of real-time detection pipelines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Trade-off between real-time speed and accuracy remains open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10.1109/BigData50022.2020.9378132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7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2021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Liu, Wu, Zhang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Deep learning for fake news detection: A survey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ACM Computing Surveys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Survey deep learning approaches to detection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Survey of CNN, RNN, BERT-based methods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Multiple benchmark datasets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Comparative accuracy across methods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Deep learning models outperform classical ML on large datasets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Lack of explainability across deep learning approaches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10.1145/3453157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8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2020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Ma, Li, Zhang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A survey on fake news detection with deep learning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IEEE Trans. on Computational Social Systems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Survey generalization of deep learning detectors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Survey (CNN/RNN/GNN-based)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Multiple datasets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Cross-domain accuracy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Identifies generalization as a key open challenge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Generalization across domains/time remains unresolved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10.1109/TCSS.2020.3027354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1" name="Footer Placeholder 2">
            <a:extLst>
              <a:ext uri="{FF2B5EF4-FFF2-40B4-BE49-F238E27FC236}">
                <a16:creationId xmlns:a16="http://schemas.microsoft.com/office/drawing/2014/main" id="{1F0CD418-099C-428F-95D7-1D5909D142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PRC-I    </a:t>
            </a:r>
          </a:p>
        </p:txBody>
      </p:sp>
    </p:spTree>
    <p:extLst>
      <p:ext uri="{BB962C8B-B14F-4D97-AF65-F5344CB8AC3E}">
        <p14:creationId xmlns:p14="http://schemas.microsoft.com/office/powerpoint/2010/main" val="3610881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2205BF8-E8B4-C589-5006-CAF232FB4E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15234DD-6ED1-D656-1294-FA28B66E45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 (contd.)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5679BD2-A51A-9AA0-A461-44D352276E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0731"/>
            <a:ext cx="10515600" cy="350000"/>
          </a:xfrm>
        </p:spPr>
        <p:txBody>
          <a:bodyPr>
            <a:norm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Continued: papers 9-16 of the literature survey.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0130AF-494E-777F-45AE-C50709DBF5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CB346-A29B-614A-90B7-3F58220E4132}" type="datetime1">
              <a:rPr lang="en-IN" smtClean="0"/>
              <a:t>18-09-2026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301E54-71CD-371A-5333-489712DC68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7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6E32AD9-12A7-7C40-05A0-8D056D1960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396"/>
            <a:ext cx="1458484" cy="690861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D07D7A9-8878-6941-85F0-B9C44D6483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0787444"/>
              </p:ext>
            </p:extLst>
          </p:nvPr>
        </p:nvGraphicFramePr>
        <p:xfrm>
          <a:off x="496000" y="1700000"/>
          <a:ext cx="11200000" cy="5356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03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03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80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522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894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103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3711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1039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5802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25452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20917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299868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42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Sl No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Year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Authors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Title of the Paper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Source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Objective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Techniques Used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Dataset Used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Parameters Analysed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Research Inference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Research Gap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DOI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9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2021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Murty, Kumar, Rao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Adapting to evolving fake news tactics with dynamic ML models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IEEE Trans. on Computational Social Systems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Handle evolving fake news writing tactics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Dynamic/adaptive ML models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Evolving news dataset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Accuracy over time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Dynamic models outperform static ones as tactics evolve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Static, one-time-trained models fail on evolving tactics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10.1109/TCSS.2020.3047405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10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2021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Choudhary, Jha, Saxena, Singh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A review of fake news detection methods using machine learning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IEEE Conf. for Emerging Technology (INCET)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Review existing ML-based detection methods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Review of SVM, NB, DT, ensemble methods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N/A (review paper)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N/A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Summarizes strengths/weaknesses of classical ML methods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No unified benchmark for comparing ML methods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See IEEE Xplore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11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2022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(Study authors, IEEE)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An exploration of ML and DL models for fake news detection in social media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IEEE Conference Publication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Compare classical ML vs deep learning models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LR, RF, SVM, Naive Bayes vs RNN, LSTM, BERT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True/fake news dataset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Accuracy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Deep learning (BERT) outperformed classical ML overall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Comparative study; doesn't test evidence-based verification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See IEEE Xplore (doc. 9635201)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12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2023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(Study authors, IEEE)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Deep Fake BERT: Efficient Online Fake News Detection System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IEEE Conference Publication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Real-time online fake news detection using BERT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BERT + single-layer DCNN, multiple kernel filters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Online media dataset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Accuracy, F1-score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Bidirectional training improved classification over unidirectional models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High computational cost for online/real-time deployment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See IEEE Xplore (doc. 10127560)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13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2022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(Study authors, IEEE)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Fake News Detection Using Enhanced BERT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IEEE Journals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Improve BERT-based detection performance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Enhanced/fine-tuned BERT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News text dataset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Accuracy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Enhanced BERT improved on baseline BERT performance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Still limited to binary output, no evidence verification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See IEEE Xplore (doc. 09965362)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14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2021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(Study authors, IEEE)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BERT Model for Classification of Fake News using Cloud Processing Capacity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IEEE Conference Publication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Use cloud computing to scale BERT-based detection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BERT + cloud processing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News articles dataset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Accuracy, Processing time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Cloud processing enabled scalable BERT inference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Scalability solved via infrastructure, not model efficiency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See IEEE Xplore (doc. 9641632)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15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2024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(Study authors, IEEE)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Enhanced Fake News Detection Leveraging a Hybrid BERT-BiLSTM Model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IEEE Conference Publication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Improve headline-based fake news detection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BERT + BiLSTM hybrid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News headlines dataset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Accuracy, F1-score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Hybrid BERT-BiLSTM improved headline-level classification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Limited to headline-level analysis, ignores full article body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See IEEE Xplore (doc. 10862089)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16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2023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(Study authors, IEEE)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Fake News Detection Using Machine Learning Algorithm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IEEE Conference Publication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Classify hoax vs true news using XGBoost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XGBoost (Extreme Gradient Boosting)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Kaggle dataset (20,799 news records)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Accuracy, Precision, Recall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91% accuracy, 90% precision, 80% recall; deployed via Flask webapp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No evidence-checking or explanation of predictions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See IEEE Xplore (doc. 10088320)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1" name="Footer Placeholder 2">
            <a:extLst>
              <a:ext uri="{FF2B5EF4-FFF2-40B4-BE49-F238E27FC236}">
                <a16:creationId xmlns:a16="http://schemas.microsoft.com/office/drawing/2014/main" id="{1F0CD418-099C-428F-95D7-1D5909D142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PRC-I    </a:t>
            </a:r>
          </a:p>
        </p:txBody>
      </p:sp>
    </p:spTree>
    <p:extLst>
      <p:ext uri="{BB962C8B-B14F-4D97-AF65-F5344CB8AC3E}">
        <p14:creationId xmlns:p14="http://schemas.microsoft.com/office/powerpoint/2010/main" val="3610881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B54B581-3E21-4B4E-2A35-F67D3096E5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048C83F0-76BD-4B96-85D5-C1FAD7356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Gap Identification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52B6941-B56F-78EF-6572-0086C4B21B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3134"/>
            <a:ext cx="10515600" cy="650000"/>
          </a:xfrm>
        </p:spPr>
        <p:txBody>
          <a:bodyPr>
            <a:normAutofit/>
          </a:bodyPr>
          <a:lstStyle/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IN" sz="1400" b="1" dirty="0"/>
              <a:t>Research gap identification</a:t>
            </a:r>
            <a:r>
              <a:rPr lang="en-IN" sz="1400" dirty="0"/>
              <a:t> involves </a:t>
            </a:r>
            <a:r>
              <a:rPr lang="en-IN" sz="1400" dirty="0" err="1"/>
              <a:t>analyzing</a:t>
            </a:r>
            <a:r>
              <a:rPr lang="en-IN" sz="1400" dirty="0"/>
              <a:t> existing literature to identify unresolved issues. Across the papers surveyed, most systems stop at binary Real/Fake classification without verifying claims against evidence or explaining predictions -- this is the gap our project targets.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E4C048-DC99-8545-9D85-18D18CC66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CB346-A29B-614A-90B7-3F58220E4132}" type="datetime1">
              <a:rPr lang="en-IN" smtClean="0"/>
              <a:t>18-09-2026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5A645B-E9B2-A17C-A19D-59B4792D4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8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F7B1205-708D-AB89-EA58-78AFC93D26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396"/>
            <a:ext cx="1458484" cy="690861"/>
          </a:xfrm>
          <a:prstGeom prst="rect">
            <a:avLst/>
          </a:prstGeom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EF1EDB7-8761-CEC4-B291-FF5C19314D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3712854"/>
              </p:ext>
            </p:extLst>
          </p:nvPr>
        </p:nvGraphicFramePr>
        <p:xfrm>
          <a:off x="496000" y="2250000"/>
          <a:ext cx="11200000" cy="42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63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0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42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5602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666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6666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2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S.No.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Paper Title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Author Name(s)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Methodology / Model Used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Key Findings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Research Gap Identified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1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FakeBERT (2021)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Kaliyar, Goswami, Narang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BERT + parallel CNN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98.90% accuracy on real-world dataset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Computationally heavy; no evidence verification or explainability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2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User-Centered Fake News Detection Model (2023)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Park, Chai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ML classification + social capital features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User/social features improve detection over content-only models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Most systems ignore user and social-network context entirely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3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ML/DL Model Comparison for Social Media (2022)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IEEE study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LR, RF, SVM, NB vs RNN, LSTM, BERT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Deep learning (BERT) outperforms classical ML overall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Comparative accuracy only; no generalization or evidence testing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4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Deep Learning for Fake News Detection: A Survey (2021)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Liu, Wu, Zhang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Survey of CNN/RNN/BERT methods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DL models outperform classical ML on large datasets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Lack of explainability across deep learning approaches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5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A Survey on Fake News Detection with Deep Learning (2020)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Ma, Li, Zhang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Survey (CNN/RNN/GNN-based)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Identifies generalization as key open challenge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Generalization across domains/time periods remains unresolved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6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Adapting to Evolving Fake News Tactics (2021)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Murty, Kumar, Rao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Dynamic/adaptive ML models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Dynamic models outperform static ones as tactics evolve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Most systems use static, one-time-trained models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7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Enhanced Fake News Detection using Hybrid BERT-BiLSTM (2024)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IEEE study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BERT + BiLSTM hybrid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Improved headline-level classification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Limited to headlines only; ignores full article body/context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8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8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Fake News Detection using XGBoost (2023)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IEEE study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XGBoost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91% accuracy on Kaggle dataset (20,799 records)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No evidence-checking or explanation of predictions provided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1" name="Footer Placeholder 2">
            <a:extLst>
              <a:ext uri="{FF2B5EF4-FFF2-40B4-BE49-F238E27FC236}">
                <a16:creationId xmlns:a16="http://schemas.microsoft.com/office/drawing/2014/main" id="{1A2691C9-D5FC-4B5D-BC2B-27DFE115B3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PRC-I    </a:t>
            </a:r>
          </a:p>
        </p:txBody>
      </p:sp>
    </p:spTree>
    <p:extLst>
      <p:ext uri="{BB962C8B-B14F-4D97-AF65-F5344CB8AC3E}">
        <p14:creationId xmlns:p14="http://schemas.microsoft.com/office/powerpoint/2010/main" val="27623403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2C7D688-871F-CFE8-3EFB-2BBFC942F7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8465BC6B-ACEF-FABD-97D9-3F740AFEA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Innovation, Creativity, and Novelty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9A148468-70F0-62F4-D77B-031E25FC61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0731"/>
            <a:ext cx="10515600" cy="5002923"/>
          </a:xfrm>
        </p:spPr>
        <p:txBody>
          <a:bodyPr>
            <a:norm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Innovation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Rather than stopping at a binary Real/Fake label, the system evaluates and reports on generalizability -- how well a model trained on older/fixed data performs on newer or region-specific news. This was validated experimentally (see Experimental Results).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Creativity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Combines a proven TF-IDF + classical ML baseline with a clear extension path toward transformer models (BERT/RoBERTa) and retrieval-augmented evidence checking (RAG), giving the project both a working near-term deliverable and a research-aligned long-term direction.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Novelty / Research Gap Addressed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literature largely stops at reporting a single accuracy number for binary classification. This project tested cross-domain/cross-time generalizability and adversarial robustness -- both flagged as open problems in recent surveys -- with concrete results demonstrating both a real generalization gap and partial adversarial resilience.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766324-58AB-8C24-3FA5-CA8446FB06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CB346-A29B-614A-90B7-3F58220E4132}" type="datetime1">
              <a:rPr lang="en-IN" smtClean="0"/>
              <a:t>18-09-2026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B3A364-68CB-FD95-0846-F866F5F20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9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6BA0F1E-63D2-5C99-0AEF-AE9D06F3E6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396"/>
            <a:ext cx="1458484" cy="690861"/>
          </a:xfrm>
          <a:prstGeom prst="rect">
            <a:avLst/>
          </a:prstGeom>
        </p:spPr>
      </p:pic>
      <p:sp>
        <p:nvSpPr>
          <p:cNvPr id="11" name="Footer Placeholder 2">
            <a:extLst>
              <a:ext uri="{FF2B5EF4-FFF2-40B4-BE49-F238E27FC236}">
                <a16:creationId xmlns:a16="http://schemas.microsoft.com/office/drawing/2014/main" id="{444AC3EB-3F86-4AA5-854B-7AEEB8EE2B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PRC-I    </a:t>
            </a:r>
          </a:p>
        </p:txBody>
      </p:sp>
    </p:spTree>
    <p:extLst>
      <p:ext uri="{BB962C8B-B14F-4D97-AF65-F5344CB8AC3E}">
        <p14:creationId xmlns:p14="http://schemas.microsoft.com/office/powerpoint/2010/main" val="33500413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2C7D688-871F-CFE8-3EFB-2BBFC942F7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8465BC6B-ACEF-FABD-97D9-3F740AFEA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Feasibility and Project Plan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9A148468-70F0-62F4-D77B-031E25FC61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0731"/>
            <a:ext cx="10515600" cy="5002923"/>
          </a:xfrm>
        </p:spPr>
        <p:txBody>
          <a:bodyPr>
            <a:norm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Feasibility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Dataset: publicly available, labeled Kaggle Fake/Real News dataset (~44,000 articles) -- freely accessible, no cost.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Tools: Python, pandas, scikit-learn -- all free, open-source, and already set up.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working TF-IDF + Logistic Regression baseline has been delivered, evaluated, and deployed; advanced components (BERT, RAG) remain scoped as future work.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Plan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1 (Complete): Literature survey, data loading, cleaning and preprocessing.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2 (Complete): Trained and evaluated baseline model (97.83% accuracy); tested generalizability across time/source.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3 (Complete): Built working Streamlit interface for text and image (OCR) input and prediction.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4 (In Progress/Future): Explore transformer-based model (BERT) and evidence-retrieval as a comparison to the baseline.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766324-58AB-8C24-3FA5-CA8446FB06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CB346-A29B-614A-90B7-3F58220E4132}" type="datetime1">
              <a:rPr lang="en-IN" smtClean="0"/>
              <a:t>18-09-2026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B3A364-68CB-FD95-0846-F866F5F20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10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6BA0F1E-63D2-5C99-0AEF-AE9D06F3E6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396"/>
            <a:ext cx="1458484" cy="690861"/>
          </a:xfrm>
          <a:prstGeom prst="rect">
            <a:avLst/>
          </a:prstGeom>
        </p:spPr>
      </p:pic>
      <p:sp>
        <p:nvSpPr>
          <p:cNvPr id="11" name="Footer Placeholder 2">
            <a:extLst>
              <a:ext uri="{FF2B5EF4-FFF2-40B4-BE49-F238E27FC236}">
                <a16:creationId xmlns:a16="http://schemas.microsoft.com/office/drawing/2014/main" id="{85505740-31D0-4B8F-B93F-9E8CA50A42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PRC-I    </a:t>
            </a:r>
          </a:p>
        </p:txBody>
      </p:sp>
    </p:spTree>
    <p:extLst>
      <p:ext uri="{BB962C8B-B14F-4D97-AF65-F5344CB8AC3E}">
        <p14:creationId xmlns:p14="http://schemas.microsoft.com/office/powerpoint/2010/main" val="2893631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b="1">
                <a:latin typeface="Times New Roman"/>
              </a:rPr>
              <a:t>System Design and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72430"/>
            <a:ext cx="11155680" cy="1463040"/>
          </a:xfrm>
        </p:spPr>
        <p:txBody>
          <a:bodyPr>
            <a:normAutofit/>
          </a:bodyPr>
          <a:lstStyle/>
          <a:p>
            <a:r>
              <a:rPr sz="2000" b="0" dirty="0">
                <a:latin typeface="Times New Roman"/>
              </a:rPr>
              <a:t>The system follows a linear pipeline: user input -&gt; preprocessing (OCR if image) -&gt; TF-IDF feature extraction -&gt; Logistic Regression classification -&gt; prediction with confidence score.</a:t>
            </a:r>
          </a:p>
          <a:p>
            <a:r>
              <a:rPr sz="2000" b="0" dirty="0">
                <a:latin typeface="Times New Roman"/>
              </a:rPr>
              <a:t>Training (offline) and inference (live app) are separated: the model is trained once and saved, then loaded instantly by the web app for fast predictions.</a:t>
            </a:r>
          </a:p>
        </p:txBody>
      </p:sp>
      <p:pic>
        <p:nvPicPr>
          <p:cNvPr id="4" name="Picture 3" descr="architectur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9303" y="2560955"/>
            <a:ext cx="7204879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b="1">
                <a:latin typeface="Times New Roman"/>
              </a:rPr>
              <a:t>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1722" y="1783080"/>
            <a:ext cx="5394960" cy="3291840"/>
          </a:xfrm>
        </p:spPr>
        <p:txBody>
          <a:bodyPr>
            <a:noAutofit/>
          </a:bodyPr>
          <a:lstStyle/>
          <a:p>
            <a:r>
              <a:rPr sz="2000" b="0" dirty="0">
                <a:latin typeface="Times New Roman"/>
              </a:rPr>
              <a:t>Modules: load_data.py, prepare_data.py (cleaning + labeling), train_model.py (TF-IDF + Logistic Regression, evaluation), predict.py, adversarial_test.py, app.py (</a:t>
            </a:r>
            <a:r>
              <a:rPr sz="2000" b="0" dirty="0" err="1">
                <a:latin typeface="Times New Roman"/>
              </a:rPr>
              <a:t>Streamlit</a:t>
            </a:r>
            <a:r>
              <a:rPr sz="2000" b="0" dirty="0">
                <a:latin typeface="Times New Roman"/>
              </a:rPr>
              <a:t> interface with OCR).</a:t>
            </a:r>
          </a:p>
          <a:p>
            <a:r>
              <a:rPr sz="2000" b="0" dirty="0">
                <a:latin typeface="Times New Roman"/>
              </a:rPr>
              <a:t>Tech stack: Python, pandas, scikit-learn, </a:t>
            </a:r>
            <a:r>
              <a:rPr sz="2000" b="0" dirty="0" err="1">
                <a:latin typeface="Times New Roman"/>
              </a:rPr>
              <a:t>joblib</a:t>
            </a:r>
            <a:r>
              <a:rPr sz="2000" b="0" dirty="0">
                <a:latin typeface="Times New Roman"/>
              </a:rPr>
              <a:t>, </a:t>
            </a:r>
            <a:r>
              <a:rPr sz="2000" b="0" dirty="0" err="1">
                <a:latin typeface="Times New Roman"/>
              </a:rPr>
              <a:t>Streamlit</a:t>
            </a:r>
            <a:r>
              <a:rPr sz="2000" b="0" dirty="0">
                <a:latin typeface="Times New Roman"/>
              </a:rPr>
              <a:t>, </a:t>
            </a:r>
            <a:r>
              <a:rPr sz="2000" b="0" dirty="0" err="1">
                <a:latin typeface="Times New Roman"/>
              </a:rPr>
              <a:t>EasyOCR</a:t>
            </a:r>
            <a:r>
              <a:rPr sz="2000" b="0" dirty="0">
                <a:latin typeface="Times New Roman"/>
              </a:rPr>
              <a:t>, OpenCV, Pillow.</a:t>
            </a:r>
          </a:p>
          <a:p>
            <a:r>
              <a:rPr sz="2000" b="0" dirty="0">
                <a:latin typeface="Times New Roman"/>
              </a:rPr>
              <a:t>Results: 97.83% accuracy; precision/recall/F1 = 0.97-0.98 (balanced across Fake and Real classes).</a:t>
            </a:r>
          </a:p>
          <a:p>
            <a:r>
              <a:rPr sz="2000" b="0" dirty="0">
                <a:latin typeface="Times New Roman"/>
              </a:rPr>
              <a:t>Version control: code hosted on GitHub with mandatory folder structure (</a:t>
            </a:r>
            <a:r>
              <a:rPr sz="2000" b="0" dirty="0" err="1">
                <a:latin typeface="Times New Roman"/>
              </a:rPr>
              <a:t>src</a:t>
            </a:r>
            <a:r>
              <a:rPr sz="2000" b="0" dirty="0">
                <a:latin typeface="Times New Roman"/>
              </a:rPr>
              <a:t>, docs, data, results, reports) and a documented README.</a:t>
            </a:r>
          </a:p>
        </p:txBody>
      </p:sp>
      <p:pic>
        <p:nvPicPr>
          <p:cNvPr id="4" name="Picture 3" descr="app_result_screen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8955" y="1783080"/>
            <a:ext cx="5303520" cy="29464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0618" y="196944"/>
            <a:ext cx="10173182" cy="1128009"/>
          </a:xfrm>
        </p:spPr>
        <p:txBody>
          <a:bodyPr/>
          <a:lstStyle/>
          <a:p>
            <a:pPr algn="ctr"/>
            <a:r>
              <a:rPr sz="3200" b="1" dirty="0">
                <a:latin typeface="Times New Roman"/>
              </a:rPr>
              <a:t>Experimental Setup and Preliminary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50731"/>
            <a:ext cx="5577840" cy="4846320"/>
          </a:xfrm>
        </p:spPr>
        <p:txBody>
          <a:bodyPr>
            <a:noAutofit/>
          </a:bodyPr>
          <a:lstStyle/>
          <a:p>
            <a:pPr>
              <a:spcAft>
                <a:spcPts val="1000"/>
              </a:spcAft>
            </a:pPr>
            <a:r>
              <a:rPr sz="2000" b="0" dirty="0">
                <a:latin typeface="Times New Roman"/>
              </a:rPr>
              <a:t>Baseline: 97.83% accuracy on 8,980 held-out test articles; precision/recall/F1 balanced (0.97-0.98) across Fake and Real classes.</a:t>
            </a:r>
          </a:p>
          <a:p>
            <a:pPr>
              <a:spcAft>
                <a:spcPts val="1000"/>
              </a:spcAft>
            </a:pPr>
            <a:r>
              <a:rPr sz="2000" b="0" dirty="0">
                <a:latin typeface="Times New Roman"/>
              </a:rPr>
              <a:t>Confusion matrix (right): only 124 Fake articles misclassified as Real, and 71 Real articles misclassified as Fake -- errors are rare and roughly symmetric.</a:t>
            </a:r>
          </a:p>
          <a:p>
            <a:pPr>
              <a:spcAft>
                <a:spcPts val="1000"/>
              </a:spcAft>
            </a:pPr>
            <a:r>
              <a:rPr sz="2000" b="0" dirty="0">
                <a:latin typeface="Times New Roman"/>
              </a:rPr>
              <a:t>Generalizability testing: an out-of-distribution real-news sample was initially misclassified (60.50% confidence). After removing a dataset shortcut ("(Reuters)" tag) and adding bigram features, it was correctly classified, with confidence improving 51.10% -&gt; 55.63%.</a:t>
            </a:r>
          </a:p>
          <a:p>
            <a:pPr>
              <a:spcAft>
                <a:spcPts val="1000"/>
              </a:spcAft>
            </a:pPr>
            <a:r>
              <a:rPr sz="2000" b="0" dirty="0">
                <a:latin typeface="Times New Roman"/>
              </a:rPr>
              <a:t>Adversarial robustness: a reworded fake-news sentence remained correctly classified as Fake, but confidence dropped from 90.93% to 83.25% -- showing partial reliance on sensational wording.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675120" y="1463040"/>
          <a:ext cx="438912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latin typeface="Times New Roman"/>
                        </a:rPr>
                        <a:t>Pred: Fake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latin typeface="Times New Roman"/>
                        </a:rPr>
                        <a:t>Pred: Real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latin typeface="Times New Roman"/>
                        </a:rPr>
                        <a:t>Actual: Fake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latin typeface="Times New Roman"/>
                        </a:rPr>
                        <a:t>4586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latin typeface="Times New Roman"/>
                        </a:rPr>
                        <a:t>124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latin typeface="Times New Roman"/>
                        </a:rPr>
                        <a:t>Actual: Real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latin typeface="Times New Roman"/>
                        </a:rPr>
                        <a:t>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latin typeface="Times New Roman"/>
                        </a:rPr>
                        <a:t>4199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675120" y="3017520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i="1">
                <a:latin typeface="Times New Roman"/>
              </a:rPr>
              <a:t>Confusion Matrix (held-out test data)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6136190"/>
              </p:ext>
            </p:extLst>
          </p:nvPr>
        </p:nvGraphicFramePr>
        <p:xfrm>
          <a:off x="6690360" y="3905865"/>
          <a:ext cx="4389120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latin typeface="Times New Roman"/>
                        </a:rPr>
                        <a:t>Class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latin typeface="Times New Roman"/>
                        </a:rPr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latin typeface="Times New Roman"/>
                        </a:rPr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latin typeface="Times New Roman"/>
                        </a:rPr>
                        <a:t>F1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latin typeface="Times New Roman"/>
                        </a:rPr>
                        <a:t>Fake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dirty="0">
                          <a:latin typeface="Times New Roman"/>
                        </a:rPr>
                        <a:t>0.98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latin typeface="Times New Roman"/>
                        </a:rPr>
                        <a:t>0.97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latin typeface="Times New Roman"/>
                        </a:rPr>
                        <a:t>0.98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latin typeface="Times New Roman"/>
                        </a:rPr>
                        <a:t>Real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latin typeface="Times New Roman"/>
                        </a:rPr>
                        <a:t>0.97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latin typeface="Times New Roman"/>
                        </a:rPr>
                        <a:t>0.98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dirty="0">
                          <a:latin typeface="Times New Roman"/>
                        </a:rPr>
                        <a:t>0.98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690360" y="5176137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i="1" dirty="0">
                <a:latin typeface="Times New Roman"/>
              </a:rPr>
              <a:t>Classification Report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B93719B-A971-677D-DB3E-3F30ECAA34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7709CC97-A85F-7FE9-127B-D9A3D4338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E914A49-19F6-51A2-7E86-293A527748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0731"/>
            <a:ext cx="10515600" cy="5002923"/>
          </a:xfrm>
        </p:spPr>
        <p:txBody>
          <a:bodyPr>
            <a:norm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Fake news detection is a well-studied but still evolving problem; most systems stop at binary classification without checking evidence or explaining their reasoning.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proposes a system that starts with a solid TF-IDF + Logistic Regression baseline and is designed to grow toward graded, evidence-aware credibility assessment.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progress: baseline model trained and evaluated (97.83% accuracy), working interface deployed with OCR support, and generalizability and adversarial robustness testing completed.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Next steps beyond PRC-II: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Extend generalizability testing to a larger, systematic held-out set of recent/diverse articles.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OCR handling of stylized/social-media-style graphic content.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Explore transformer-based (BERT) and evidence-retrieval (RAG) extensions.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B060C3-9089-9B01-F1D8-C97A09A973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CB346-A29B-614A-90B7-3F58220E4132}" type="datetime1">
              <a:rPr lang="en-IN" smtClean="0"/>
              <a:t>18-09-2026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4082E4-0E3A-87DB-D567-ED1D0DBED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14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564F053-0075-BD19-F8FF-9AAA1B6470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396"/>
            <a:ext cx="1458484" cy="690861"/>
          </a:xfrm>
          <a:prstGeom prst="rect">
            <a:avLst/>
          </a:prstGeom>
        </p:spPr>
      </p:pic>
      <p:sp>
        <p:nvSpPr>
          <p:cNvPr id="11" name="Footer Placeholder 2">
            <a:extLst>
              <a:ext uri="{FF2B5EF4-FFF2-40B4-BE49-F238E27FC236}">
                <a16:creationId xmlns:a16="http://schemas.microsoft.com/office/drawing/2014/main" id="{2D31941C-C503-4469-8755-454FE6062E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PRC-I    </a:t>
            </a:r>
          </a:p>
        </p:txBody>
      </p:sp>
    </p:spTree>
    <p:extLst>
      <p:ext uri="{BB962C8B-B14F-4D97-AF65-F5344CB8AC3E}">
        <p14:creationId xmlns:p14="http://schemas.microsoft.com/office/powerpoint/2010/main" val="7164636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8D4C0B0-C70A-1972-492E-60B0E75414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1E10373E-14B1-432C-6627-5102E701E5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20347CC-6603-A42B-AFAE-07AE7DD492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0731"/>
            <a:ext cx="10515600" cy="5002923"/>
          </a:xfrm>
        </p:spPr>
        <p:txBody>
          <a:bodyPr>
            <a:norm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Kaliyar, R.K., Goswami, A., Narang, P. (2021). FakeBERT: Fake news detection in social media with a BERT-based deep learning approach. Multimedia Tools and Applications, 80(8), 11765-11788.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Park, M., Chai, S. (2023). Constructing a user-centered fake news detection model using classification algorithms in ML. IEEE Access, 11, 71517-71527.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Joseph, J., Sagil, P., Amina, P.M., Shahana, S., Saritha, R. (2021). Fake News Detection using Machine Learning Algorithm. IJATCSE, 10(4), 2714-2720.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Abbad, M., Kumar, G., Samiullah, M., Kumar, N.S. (2021). A Predominant Advent to Fake News Detection using ML Algorithm. IEEE CONIT.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Bhuvaneshwari, Monika, P., Monisha, P., Jyoti, M.M., Girish, L. (2023). Fake News Detection using Machine Learning. IJASI, 5(5).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Li, Y., Wang, Y., Li, W. (2020). Real-time fake news detection on social media. IEEE International Conference on Big Data.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Liu, Y., Wu, J., Zhang, X. (2021). Deep learning for fake news detection: A survey. ACM Computing Surveys, 54(6), 1-38.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Ma, J., Li, Z., Zhang, Z. (2020). A survey on fake news detection with deep learning. IEEE Trans. on Computational Social Systems, 7(5), 1455-1466.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Murty, R.L., Kumar, K.N.R., Rao, D.S.K. (2021). Adapting to evolving fake news tactics with dynamic ML models. IEEE Trans. on Computational Social Systems, 8(1), 155-164.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Choudhary, M., Jha, S., Saxena, D., Singh, A.K. (2021). A review of fake news detection methods using machine learning. IEEE INCET.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Kaggle. Fake and Real News Dataset (Clement Bisaillon).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CF12D2-F1DB-33DA-F2D4-36035A1EB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CB346-A29B-614A-90B7-3F58220E4132}" type="datetime1">
              <a:rPr lang="en-IN" smtClean="0"/>
              <a:t>18-09-2026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493559-19B2-50D7-BD0E-0D82C2ADB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15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419C462-DC64-15A1-C950-8DE0A02020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396"/>
            <a:ext cx="1458484" cy="690861"/>
          </a:xfrm>
          <a:prstGeom prst="rect">
            <a:avLst/>
          </a:prstGeom>
        </p:spPr>
      </p:pic>
      <p:sp>
        <p:nvSpPr>
          <p:cNvPr id="11" name="Footer Placeholder 2">
            <a:extLst>
              <a:ext uri="{FF2B5EF4-FFF2-40B4-BE49-F238E27FC236}">
                <a16:creationId xmlns:a16="http://schemas.microsoft.com/office/drawing/2014/main" id="{2D22C802-FAC0-4996-9438-F4455D720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PRC-I    </a:t>
            </a:r>
          </a:p>
        </p:txBody>
      </p:sp>
    </p:spTree>
    <p:extLst>
      <p:ext uri="{BB962C8B-B14F-4D97-AF65-F5344CB8AC3E}">
        <p14:creationId xmlns:p14="http://schemas.microsoft.com/office/powerpoint/2010/main" val="21169825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838200" y="740780"/>
            <a:ext cx="10515600" cy="543618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dirty="0"/>
          </a:p>
          <a:p>
            <a:pPr marL="0" indent="0" algn="ctr">
              <a:buNone/>
            </a:pPr>
            <a:endParaRPr lang="en-IN" sz="4400" dirty="0"/>
          </a:p>
          <a:p>
            <a:pPr marL="0" indent="0" algn="ctr">
              <a:buNone/>
            </a:pPr>
            <a:endParaRPr lang="en-IN" sz="4400" dirty="0"/>
          </a:p>
          <a:p>
            <a:pPr marL="0" indent="0" algn="ctr">
              <a:buNone/>
            </a:pPr>
            <a:r>
              <a:rPr lang="en-IN" sz="4400" dirty="0"/>
              <a:t>THANK YOU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E9514-8A25-AD4E-B103-05AD99471A79}" type="datetime1">
              <a:rPr lang="en-IN" smtClean="0"/>
              <a:t>18-09-2026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16</a:t>
            </a:fld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396"/>
            <a:ext cx="1458484" cy="690861"/>
          </a:xfrm>
          <a:prstGeom prst="rect">
            <a:avLst/>
          </a:prstGeom>
        </p:spPr>
      </p:pic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410A2BD5-B048-435C-9BAE-2FCD92700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PRC-I   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</TotalTime>
  <Words>3032</Words>
  <Application>Microsoft Office PowerPoint</Application>
  <PresentationFormat>Widescreen</PresentationFormat>
  <Paragraphs>427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Calibri Light</vt:lpstr>
      <vt:lpstr>Times New Roman</vt:lpstr>
      <vt:lpstr>Office Theme</vt:lpstr>
      <vt:lpstr>Custom Design</vt:lpstr>
      <vt:lpstr>ENGINEERING CAPSTONE PROJECT – 1/INDUSTRIAL INTERNSHIP/ INDUSTRIAL INTERNSHIP PHASE-I Project Review-1  AI-Based Fake News Detection and Credibility Analysis System</vt:lpstr>
      <vt:lpstr>OUTLINE</vt:lpstr>
      <vt:lpstr>Introduction</vt:lpstr>
      <vt:lpstr>Problem Statement</vt:lpstr>
      <vt:lpstr>Objectives </vt:lpstr>
      <vt:lpstr>Literature Survey</vt:lpstr>
      <vt:lpstr>Literature Survey (contd.)</vt:lpstr>
      <vt:lpstr>Research Gap Identification</vt:lpstr>
      <vt:lpstr>Innovation, Creativity, and Novelty</vt:lpstr>
      <vt:lpstr>Feasibility and Project Plan</vt:lpstr>
      <vt:lpstr>System Design and Architecture</vt:lpstr>
      <vt:lpstr>Implementation</vt:lpstr>
      <vt:lpstr>Experimental Setup and Preliminary Results</vt:lpstr>
      <vt:lpstr>Conclusion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Dr. SHAHANA BANO</dc:creator>
  <cp:lastModifiedBy>Sahithi V</cp:lastModifiedBy>
  <cp:revision>194</cp:revision>
  <cp:lastPrinted>2025-06-24T13:51:00Z</cp:lastPrinted>
  <dcterms:created xsi:type="dcterms:W3CDTF">2022-05-20T10:20:00Z</dcterms:created>
  <dcterms:modified xsi:type="dcterms:W3CDTF">2026-09-18T12:40:12Z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8501A877F9FA4B8DAC5FC0ABD71A7E4E_12</vt:lpwstr>
  </property>
  <property fmtid="{D5CDD505-2E9C-101B-9397-08002B2CF9AE}" pid="3" name="KSOProductBuildVer">
    <vt:lpwstr>1033-12.2.0.23196</vt:lpwstr>
  </property>
</Properties>
</file>